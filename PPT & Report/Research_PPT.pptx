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7" r:id="rId6"/>
    <p:sldId id="271" r:id="rId7"/>
    <p:sldId id="272" r:id="rId8"/>
    <p:sldId id="277" r:id="rId9"/>
    <p:sldId id="273" r:id="rId10"/>
    <p:sldId id="274" r:id="rId11"/>
    <p:sldId id="275" r:id="rId12"/>
    <p:sldId id="276" r:id="rId13"/>
    <p:sldId id="268" r:id="rId14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511008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IN" b="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Industry-Oriented Hands-On Experience (22CS422)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Rubik’s Cube Solver using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Optimized Search Algorithms </a:t>
            </a:r>
            <a:endParaRPr lang="en-US" sz="2400" b="1" i="1" spc="-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b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Ravneet Kaur - 2210990720</a:t>
            </a: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Ansh Oberoi - 2210990138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1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Dr. Shikha Tuteja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533520" y="67919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6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5246778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139700" lvl="0">
              <a:buClr>
                <a:srgbClr val="000000"/>
              </a:buClr>
              <a:buSzPts val="1400"/>
            </a:pPr>
            <a:endParaRPr lang="en-US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400"/>
              </a:spcBef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Rubik’s Cube is a classic combinatorial problem in computer science, known for its extremely large state space of approximately 4.3 × 10¹⁹ possible configurations. </a:t>
            </a:r>
          </a:p>
          <a:p>
            <a:pPr algn="just">
              <a:spcBef>
                <a:spcPts val="400"/>
              </a:spcBef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400"/>
              </a:spcBef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Solving such a problem efficiently is challenging because traditional brute-force or exhaustive search methods become computationally expensive in terms of both time and memory as the complexity increases. </a:t>
            </a:r>
          </a:p>
          <a:p>
            <a:pPr algn="just">
              <a:spcBef>
                <a:spcPts val="400"/>
              </a:spcBef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400"/>
              </a:spcBef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address this issue, heuristic and optimized search algorithms are required that can intelligently explore the state space. </a:t>
            </a:r>
          </a:p>
          <a:p>
            <a:pPr algn="just">
              <a:spcBef>
                <a:spcPts val="400"/>
              </a:spcBef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400"/>
              </a:spcBef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this work, we focus on designing an efficient Rubik’s Cube solver by modeling the cube as a state-space graph and applying advanced search techniques such as BFS, IDDFS, and IDA* to analyze their performance and efficiency.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E2E40-0136-C3DE-587B-5418A38EF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9016395C-2334-8CCC-5BF9-0C2C80F0E286}"/>
              </a:ext>
            </a:extLst>
          </p:cNvPr>
          <p:cNvSpPr txBox="1"/>
          <p:nvPr/>
        </p:nvSpPr>
        <p:spPr>
          <a:xfrm>
            <a:off x="533520" y="67919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4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US" sz="36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CF572446-EEF0-008A-91E9-3BE6B71506D5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3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>
            <a:extLst>
              <a:ext uri="{FF2B5EF4-FFF2-40B4-BE49-F238E27FC236}">
                <a16:creationId xmlns:a16="http://schemas.microsoft.com/office/drawing/2014/main" id="{FDEC0F6C-1642-555B-6AFD-844D34AABA5E}"/>
              </a:ext>
            </a:extLst>
          </p:cNvPr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139700" lvl="0">
              <a:buClr>
                <a:srgbClr val="000000"/>
              </a:buClr>
              <a:buSzPts val="1400"/>
            </a:pPr>
            <a:endParaRPr lang="en-US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spcBef>
                <a:spcPts val="40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Rubik’s Cube can be modeled as a state-space search problem where each configuration represents a unique state and each valid move corresponds to a transition between states. The primary challenge lies in the extremely large state space, consisting of approximately 4.3 × 10¹⁹ possible configurations , which makes exhaustive search computationally infeasible. Additionally, there exists a trade-off between memory usage and execution time—algorithms that guarantee optimal solutions often require excessive memory, while memory-efficient methods tend to increase computation time. </a:t>
            </a:r>
          </a:p>
          <a:p>
            <a:pPr algn="just">
              <a:spcBef>
                <a:spcPts val="400"/>
              </a:spcBef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spcBef>
                <a:spcPts val="40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the problem is to design an efficient solving approach that minimizes both time and memory while still producing optimal or near-optimal solutions.</a:t>
            </a: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8859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CD2C4-DCE8-43ED-3EB0-EB12925DB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3270D836-0A72-BE60-B6B9-D42C8DF48977}"/>
              </a:ext>
            </a:extLst>
          </p:cNvPr>
          <p:cNvSpPr txBox="1"/>
          <p:nvPr/>
        </p:nvSpPr>
        <p:spPr>
          <a:xfrm>
            <a:off x="533520" y="67919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40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en-US" sz="36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51A99A49-3255-4039-B0FB-3883730F0BE9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4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>
            <a:extLst>
              <a:ext uri="{FF2B5EF4-FFF2-40B4-BE49-F238E27FC236}">
                <a16:creationId xmlns:a16="http://schemas.microsoft.com/office/drawing/2014/main" id="{A77FA2B2-E3DA-7014-6987-582883EC1126}"/>
              </a:ext>
            </a:extLst>
          </p:cNvPr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139700" lvl="0">
              <a:buClr>
                <a:srgbClr val="000000"/>
              </a:buClr>
              <a:buSzPts val="1400"/>
            </a:pPr>
            <a:endParaRPr lang="en-US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400"/>
              </a:spcBef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objective of this work is to design and implement an efficient Rubik’s Cube solver using optimized search algorithms. </a:t>
            </a:r>
          </a:p>
          <a:p>
            <a:pPr marL="342900" indent="-342900" algn="just">
              <a:spcBef>
                <a:spcPts val="400"/>
              </a:spcBef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400"/>
              </a:spcBef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cube is modeled as a state-space graph, and algorithms such as Breadth-First Search (BFS), Iterative Deepening Depth-First Search (IDDFS), and Iterative Deepening A* (IDA*) are applied to solve it. </a:t>
            </a:r>
          </a:p>
          <a:p>
            <a:pPr marL="342900" indent="-342900" algn="just">
              <a:spcBef>
                <a:spcPts val="400"/>
              </a:spcBef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Bef>
                <a:spcPts val="400"/>
              </a:spcBef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study aims to compare these algorithms based on execution time, memory usage, and solution optimality, in order to identify the most effective approach for solving large-scale combinatorial problems while maintaining a balance between computational efficiency and resource utilization.</a:t>
            </a:r>
          </a:p>
          <a:p>
            <a:pPr marL="342900" indent="-342900" algn="just">
              <a:spcBef>
                <a:spcPts val="400"/>
              </a:spcBef>
              <a:buFont typeface="Wingdings" panose="05000000000000000000" pitchFamily="2" charset="2"/>
              <a:buChar char="Ø"/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1948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8119A-9E2A-970C-35E8-7BBC8011F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A651C615-8C93-6FDC-3E64-4FDAEFC2C3B3}"/>
              </a:ext>
            </a:extLst>
          </p:cNvPr>
          <p:cNvSpPr txBox="1"/>
          <p:nvPr/>
        </p:nvSpPr>
        <p:spPr>
          <a:xfrm>
            <a:off x="53352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4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Algorithms Implemen</a:t>
            </a:r>
            <a:r>
              <a:rPr lang="en" sz="40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ted</a:t>
            </a:r>
            <a:endParaRPr lang="en-US" sz="36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C229FF3F-C51F-A062-E359-318ED420887C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5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>
            <a:extLst>
              <a:ext uri="{FF2B5EF4-FFF2-40B4-BE49-F238E27FC236}">
                <a16:creationId xmlns:a16="http://schemas.microsoft.com/office/drawing/2014/main" id="{8E4836DA-B495-B1EE-00D1-9D1EA07A92EF}"/>
              </a:ext>
            </a:extLst>
          </p:cNvPr>
          <p:cNvSpPr txBox="1"/>
          <p:nvPr/>
        </p:nvSpPr>
        <p:spPr>
          <a:xfrm>
            <a:off x="164008" y="905640"/>
            <a:ext cx="8838720" cy="5711470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139700" lvl="0">
              <a:buClr>
                <a:srgbClr val="000000"/>
              </a:buClr>
              <a:buSzPts val="1400"/>
            </a:pPr>
            <a:endParaRPr lang="en-US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 Breadth-First Search (BFS)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Explores all states level-by-level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Guarantees shortest path solution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memory usage due to storing all nodes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 Iterative Deepening DFS (IDDFS)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Combines BFS completeness + DFS memory efficiency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Repeats depth-limited search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memory but increases time 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3) Iterative Deepening A* (IDA*)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heuristic function to guide search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Explores only promising states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time and memory usage significantly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efficient for higher-depth solutions</a:t>
            </a:r>
          </a:p>
          <a:p>
            <a:pPr marL="342900" indent="-342900" algn="just">
              <a:spcBef>
                <a:spcPts val="400"/>
              </a:spcBef>
              <a:buFont typeface="Wingdings" panose="05000000000000000000" pitchFamily="2" charset="2"/>
              <a:buChar char="Ø"/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780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86BC6-46CF-E5D1-DD18-2E7C1A4E4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C75EF55D-33EA-7A75-6C4C-65C779AB4C1E}"/>
              </a:ext>
            </a:extLst>
          </p:cNvPr>
          <p:cNvSpPr txBox="1"/>
          <p:nvPr/>
        </p:nvSpPr>
        <p:spPr>
          <a:xfrm>
            <a:off x="533520" y="67919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4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US" sz="36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01EA660F-BD89-963B-4058-601BE2AEB160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6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>
            <a:extLst>
              <a:ext uri="{FF2B5EF4-FFF2-40B4-BE49-F238E27FC236}">
                <a16:creationId xmlns:a16="http://schemas.microsoft.com/office/drawing/2014/main" id="{129600E4-D388-2DCB-6E18-762B4A35D1E0}"/>
              </a:ext>
            </a:extLst>
          </p:cNvPr>
          <p:cNvSpPr txBox="1"/>
          <p:nvPr/>
        </p:nvSpPr>
        <p:spPr>
          <a:xfrm>
            <a:off x="164008" y="1425677"/>
            <a:ext cx="8838720" cy="5102942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82600" indent="-342900" algn="just"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methodology of this work is based on modeling the Rubik’s Cube as a state-space graph, where each configuration represents a node and each valid move corresponds to a transition between states. </a:t>
            </a:r>
          </a:p>
          <a:p>
            <a:pPr marL="139700" algn="just">
              <a:buClr>
                <a:srgbClr val="000000"/>
              </a:buClr>
              <a:buSzPts val="1400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82600" indent="-342900" algn="just"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compact cube representation is used to reduce memory usage and enable faster state comparisons. </a:t>
            </a:r>
          </a:p>
          <a:p>
            <a:pPr marL="482600" indent="-342900" algn="just"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82600" indent="-342900" algn="just"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BFS performs level-wise exploration to guarantee optimal solutions, while IDDFS reduces memory usage through depth-limited searches. </a:t>
            </a:r>
          </a:p>
          <a:p>
            <a:pPr marL="139700" algn="just">
              <a:buClr>
                <a:srgbClr val="000000"/>
              </a:buClr>
              <a:buSzPts val="1400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82600" indent="-342900" algn="just"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IDA* incorporates a heuristic function to guide the search towards promising states, significantly reducing the number of explored configurations. </a:t>
            </a:r>
          </a:p>
          <a:p>
            <a:pPr marL="482600" indent="-342900" algn="just"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endParaRPr lang="en-US" sz="200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82600" indent="-342900" algn="just"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endParaRPr lang="en-US" sz="200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</a:t>
            </a: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E3073B-BEF7-76AA-75A2-2B426BD6CF96}"/>
              </a:ext>
            </a:extLst>
          </p:cNvPr>
          <p:cNvSpPr/>
          <p:nvPr/>
        </p:nvSpPr>
        <p:spPr>
          <a:xfrm>
            <a:off x="533520" y="5427406"/>
            <a:ext cx="8152920" cy="73653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 Cube → State Representation → Apply Algorithm → Solution Output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3355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906DC-2959-93F4-D2E8-6C367B455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6C1053DD-65BA-0AB8-E3F9-EB3B59E9F29D}"/>
              </a:ext>
            </a:extLst>
          </p:cNvPr>
          <p:cNvSpPr txBox="1"/>
          <p:nvPr/>
        </p:nvSpPr>
        <p:spPr>
          <a:xfrm>
            <a:off x="533520" y="67919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40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en-US" sz="36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0ED938DC-B1D2-65F5-F878-6E947449AE7E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7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>
            <a:extLst>
              <a:ext uri="{FF2B5EF4-FFF2-40B4-BE49-F238E27FC236}">
                <a16:creationId xmlns:a16="http://schemas.microsoft.com/office/drawing/2014/main" id="{BB053176-AC72-9D6E-0602-D286ADAF73BD}"/>
              </a:ext>
            </a:extLst>
          </p:cNvPr>
          <p:cNvSpPr txBox="1"/>
          <p:nvPr/>
        </p:nvSpPr>
        <p:spPr>
          <a:xfrm>
            <a:off x="164008" y="1425677"/>
            <a:ext cx="8838720" cy="5364404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 Performance Evaluation - </a:t>
            </a:r>
          </a:p>
          <a:p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evaluated using execution time, memory usage, and solution efficiency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tested across increasing scramble depth (3–10)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 Key Observations – </a:t>
            </a:r>
          </a:p>
          <a:p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BFS :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at lower depths.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Fails beyond depth 7 due to exponential memory growth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IDDFS :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memory usage.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Slower due to repeated state exploration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IDA* :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heuristic pruning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r>
              <a:rPr lang="en-US" sz="200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</a:t>
            </a: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1791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F3032-9197-B946-EAAE-67A837D00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30321A00-3E5A-ABF7-F986-531C27CE1211}"/>
              </a:ext>
            </a:extLst>
          </p:cNvPr>
          <p:cNvSpPr txBox="1"/>
          <p:nvPr/>
        </p:nvSpPr>
        <p:spPr>
          <a:xfrm>
            <a:off x="533520" y="67919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40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en-US" sz="36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D0DB8C61-CDA8-326B-108B-093DC34AC4FD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8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>
            <a:extLst>
              <a:ext uri="{FF2B5EF4-FFF2-40B4-BE49-F238E27FC236}">
                <a16:creationId xmlns:a16="http://schemas.microsoft.com/office/drawing/2014/main" id="{3F6F3D0F-0E29-AC82-EF53-C36006276630}"/>
              </a:ext>
            </a:extLst>
          </p:cNvPr>
          <p:cNvSpPr txBox="1"/>
          <p:nvPr/>
        </p:nvSpPr>
        <p:spPr>
          <a:xfrm>
            <a:off x="164008" y="1425677"/>
            <a:ext cx="8838720" cy="5102942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dirty="0"/>
              <a:t>Explores fewer states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dirty="0"/>
              <a:t>Performs efficiently even at higher depths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dirty="0"/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3) Graph: Time v/s Depth –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</a:p>
          <a:p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r>
              <a:rPr lang="en-US" sz="200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</a:t>
            </a:r>
          </a:p>
          <a:p>
            <a:pPr marL="342900" indent="-342900" algn="just">
              <a:lnSpc>
                <a:spcPct val="150000"/>
              </a:lnSpc>
              <a:spcBef>
                <a:spcPts val="400"/>
              </a:spcBef>
              <a:buFont typeface="Wingdings" panose="05000000000000000000" pitchFamily="2" charset="2"/>
              <a:buChar char="§"/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spcBef>
                <a:spcPts val="400"/>
              </a:spcBef>
              <a:buFont typeface="Wingdings" panose="05000000000000000000" pitchFamily="2" charset="2"/>
              <a:buChar char="§"/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spcBef>
                <a:spcPts val="400"/>
              </a:spcBef>
              <a:buFont typeface="Wingdings" panose="05000000000000000000" pitchFamily="2" charset="2"/>
              <a:buChar char="§"/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§"/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§"/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§"/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§"/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§"/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1D6D86C-8E93-63AF-3242-86DEF29DC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323" y="2882080"/>
            <a:ext cx="6272980" cy="307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188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78D46-10D1-907E-976F-CBD25840C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F16E4AC1-1379-8910-8B65-D0D815D84FCB}"/>
              </a:ext>
            </a:extLst>
          </p:cNvPr>
          <p:cNvSpPr txBox="1"/>
          <p:nvPr/>
        </p:nvSpPr>
        <p:spPr>
          <a:xfrm>
            <a:off x="533520" y="67919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4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36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FB9191E5-04A3-E2C0-DF92-426436F6DDF8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9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>
            <a:extLst>
              <a:ext uri="{FF2B5EF4-FFF2-40B4-BE49-F238E27FC236}">
                <a16:creationId xmlns:a16="http://schemas.microsoft.com/office/drawing/2014/main" id="{B9616267-FB25-D9CA-3FB0-63957B5D6ED6}"/>
              </a:ext>
            </a:extLst>
          </p:cNvPr>
          <p:cNvSpPr txBox="1"/>
          <p:nvPr/>
        </p:nvSpPr>
        <p:spPr>
          <a:xfrm>
            <a:off x="164008" y="1150374"/>
            <a:ext cx="8838720" cy="5368413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342900" indent="-342900" algn="just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study presented the design and implementation of a Rubik’s Cube solver using BFS, IDDFS, and IDA* algorithms. </a:t>
            </a:r>
          </a:p>
          <a:p>
            <a:pPr marL="342900" indent="-342900" algn="just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comparative analysis shows that while BFS provides optimal solutions at lower depths, it becomes inefficient due to high memory requirements. </a:t>
            </a:r>
          </a:p>
          <a:p>
            <a:pPr marL="342900" indent="-342900" algn="just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IDDFS improves memory efficiency but increases computational time because of repeated searches. </a:t>
            </a:r>
          </a:p>
          <a:p>
            <a:pPr marL="342900" indent="-342900" algn="just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Among all approaches, IDA* demonstrates the best performance by utilizing heuristic-based pruning, which significantly reduces the number of explored states. </a:t>
            </a:r>
          </a:p>
          <a:p>
            <a:pPr marL="342900" indent="-342900" algn="just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IDA* proves to be the most efficient and scalable algorithm for solving complex Rubik’s Cube configurations.</a:t>
            </a: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ü"/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ü"/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§"/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§"/>
            </a:pPr>
            <a:endParaRPr lang="en-US" sz="19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8016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433604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10</a:t>
            </a:fld>
            <a:endParaRPr lang="en-GB" sz="1200" b="0" strike="noStrike" spc="-1" dirty="0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34790</TotalTime>
  <Words>786</Words>
  <Application>Microsoft Office PowerPoint</Application>
  <PresentationFormat>On-screen Show (4:3)</PresentationFormat>
  <Paragraphs>174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Ravneet kaur</cp:lastModifiedBy>
  <cp:revision>2301</cp:revision>
  <dcterms:created xsi:type="dcterms:W3CDTF">2010-04-09T07:36:15Z</dcterms:created>
  <dcterms:modified xsi:type="dcterms:W3CDTF">2026-04-28T09:00:09Z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