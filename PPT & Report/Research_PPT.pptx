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1" r:id="rId7"/>
    <p:sldId id="281" r:id="rId8"/>
    <p:sldId id="272" r:id="rId9"/>
    <p:sldId id="277" r:id="rId10"/>
    <p:sldId id="273" r:id="rId11"/>
    <p:sldId id="279" r:id="rId12"/>
    <p:sldId id="274" r:id="rId13"/>
    <p:sldId id="275" r:id="rId14"/>
    <p:sldId id="280" r:id="rId15"/>
    <p:sldId id="276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51100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Industry-Oriented Hands-On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Rubik’s Cube Solver using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Search Algorithms </a:t>
            </a:r>
            <a:endParaRPr lang="en-US" sz="24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Ravneet Kaur - 2210990720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Ansh Oberoi - 2210990138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983226"/>
            <a:ext cx="8838720" cy="537329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Rubik’s Cube is a classic combinatorial problem in artificial intelligence and computer science.</a:t>
            </a: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standard 3×3 cube has approximately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× 10¹⁹ possible configurations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efficient solving computationally challenging.</a:t>
            </a: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brute-force and exhaustive search methods become impractical due to high time and memory complexity.</a:t>
            </a: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solving therefore requires heuristic and optimized search techniques capable of intelligently exploring the state space.</a:t>
            </a: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work implements and compares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BFS, IDDFS, and IDA*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to analyze their efficiency, scalability, and performance in solving complex Rubik’s Cube configurations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E2E40-0136-C3DE-587B-5418A38E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016395C-2334-8CCC-5BF9-0C2C80F0E286}"/>
              </a:ext>
            </a:extLst>
          </p:cNvPr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F572446-EEF0-008A-91E9-3BE6B71506D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DEC0F6C-1642-555B-6AFD-844D34AABA5E}"/>
              </a:ext>
            </a:extLst>
          </p:cNvPr>
          <p:cNvSpPr txBox="1"/>
          <p:nvPr/>
        </p:nvSpPr>
        <p:spPr>
          <a:xfrm>
            <a:off x="236454" y="121179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Rubik’s Cube can be represented as a state-space search problem, where  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cube configuration = a state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valid move = a state transition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Exhaustive or brute-force search becomes computationally infeasible due to: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Execution Time 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Excessive Memory Consumption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to develop an efficient solving strategy that balances: 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Usage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Optimality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859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CFE3A-AA4A-2AE2-A54F-08F6D4CA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F33A1A8A-4DF8-7DB6-D6F8-A32F4A52138D}"/>
              </a:ext>
            </a:extLst>
          </p:cNvPr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383AEBC-728B-C6D3-65D0-77579BA4025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97E6512-E4F3-298E-A316-6B47100429F3}"/>
              </a:ext>
            </a:extLst>
          </p:cNvPr>
          <p:cNvSpPr txBox="1"/>
          <p:nvPr/>
        </p:nvSpPr>
        <p:spPr>
          <a:xfrm>
            <a:off x="236454" y="1474839"/>
            <a:ext cx="8838720" cy="457552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Early Rubik’s Cube solvers used uninformed search algorithms such as Breadth-First Search (BFS) and Depth-First Search (DFS), which guaranteed completeness but suffered from high computational and memory requirements.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Iterative Deepening Depth-First Search (IDDFS) was introduced to combine the completeness of BFS with the memory efficiency of DFS by performing repeated depth-limited searches.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Heuristic-based algorithms such as Iterative Deepening A* (IDA*) significantly improved solving efficiency by guiding the search toward promising states and reducing unnecessary exploration.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Pattern databases and heuristic optimization techniques further enhanced performance by storing precomputed heuristic values, thereby reducing search effort and improving scalability.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6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99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CD2C4-DCE8-43ED-3EB0-EB12925DB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270D836-0A72-BE60-B6B9-D42C8DF48977}"/>
              </a:ext>
            </a:extLst>
          </p:cNvPr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1A99A49-3255-4039-B0FB-3883730F0BE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77FA2B2-E3DA-7014-6987-582883EC1126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an efficient Rubik’s Cube solver using optimized search algorithms.</a:t>
            </a:r>
          </a:p>
          <a:p>
            <a:pPr algn="just">
              <a:spcBef>
                <a:spcPts val="4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the Rubik’s Cube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state-space graph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systematic exploration of cube configurations.</a:t>
            </a:r>
          </a:p>
          <a:p>
            <a:pPr algn="just">
              <a:spcBef>
                <a:spcPts val="4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and analyse:</a:t>
            </a:r>
          </a:p>
          <a:p>
            <a:pPr marL="342900" indent="-342900" algn="just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(BFS)</a:t>
            </a:r>
          </a:p>
          <a:p>
            <a:pPr marL="342900" indent="-342900" algn="just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Deepening Depth-First Search (IDDFS)</a:t>
            </a:r>
          </a:p>
          <a:p>
            <a:pPr marL="342900" indent="-342900" algn="just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Deepening A* (IDA*)</a:t>
            </a:r>
          </a:p>
          <a:p>
            <a:pPr algn="just"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most efficient and scalable approach for solving complex combinatorial problems.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94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8119A-9E2A-970C-35E8-7BBC8011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651C615-8C93-6FDC-3E64-4FDAEFC2C3B3}"/>
              </a:ext>
            </a:extLst>
          </p:cNvPr>
          <p:cNvSpPr txBox="1"/>
          <p:nvPr/>
        </p:nvSpPr>
        <p:spPr>
          <a:xfrm>
            <a:off x="53352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Implemen</a:t>
            </a:r>
            <a:r>
              <a:rPr lang="en" sz="4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ted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229FF3F-C51F-A062-E359-318ED420887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E4836DA-B495-B1EE-00D1-9D1EA07A92EF}"/>
              </a:ext>
            </a:extLst>
          </p:cNvPr>
          <p:cNvSpPr txBox="1"/>
          <p:nvPr/>
        </p:nvSpPr>
        <p:spPr>
          <a:xfrm>
            <a:off x="305280" y="915472"/>
            <a:ext cx="8838720" cy="571147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Breadth-First Search (BFS)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all states level-by-level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shortest path solution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 memory due to storage of all generated states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Iterative Deepening DFS (IDDFS)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BFS completeness with DFS memory efficiency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repeated depth-limited searches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memory consumption significantly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Iterative Deepening A* (IDA*)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heuristic function to guide search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only promising states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execution time and memory usage significantly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efficient for higher-depth solutions</a:t>
            </a:r>
          </a:p>
          <a:p>
            <a:pPr marL="342900" indent="-342900" algn="just">
              <a:spcBef>
                <a:spcPts val="400"/>
              </a:spcBef>
              <a:buFont typeface="Wingdings" panose="05000000000000000000" pitchFamily="2" charset="2"/>
              <a:buChar char="Ø"/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80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6BC6-46CF-E5D1-DD18-2E7C1A4E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75EF55D-33EA-7A75-6C4C-65C779AB4C1E}"/>
              </a:ext>
            </a:extLst>
          </p:cNvPr>
          <p:cNvSpPr txBox="1"/>
          <p:nvPr/>
        </p:nvSpPr>
        <p:spPr>
          <a:xfrm>
            <a:off x="602346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1EA660F-BD89-963B-4058-601BE2AEB16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29600E4-D388-2DCB-6E18-762B4A35D1E0}"/>
              </a:ext>
            </a:extLst>
          </p:cNvPr>
          <p:cNvSpPr txBox="1"/>
          <p:nvPr/>
        </p:nvSpPr>
        <p:spPr>
          <a:xfrm>
            <a:off x="164008" y="1425677"/>
            <a:ext cx="8838720" cy="510294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82600" indent="-342900" algn="just"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 of this work is based on modeling the Rubik’s Cube as a state-space graph, where each configuration represents a node and each valid move corresponds to a transition between states. 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indent="-342900" algn="just"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compact cube representation is used to reduce memory usage and enable faster state comparisons. </a:t>
            </a:r>
          </a:p>
          <a:p>
            <a:pPr marL="482600" indent="-342900" algn="just"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indent="-342900" algn="just"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performs level-wise exploration to guarantee optimal solutions, while IDDFS reduces memory usage through depth-limited searches. 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indent="-342900" algn="just"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IDA* incorporates a heuristic function to guide the search towards promising states, significantly reducing the number of explored configurations. 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indent="-342900" algn="just">
              <a:buClr>
                <a:srgbClr val="000000"/>
              </a:buClr>
              <a:buSzPts val="1400"/>
              <a:buFont typeface="Wingdings" panose="05000000000000000000" pitchFamily="2" charset="2"/>
              <a:buChar char="Ø"/>
            </a:pPr>
            <a:endParaRPr lang="en-US" sz="2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E3073B-BEF7-76AA-75A2-2B426BD6CF96}"/>
              </a:ext>
            </a:extLst>
          </p:cNvPr>
          <p:cNvSpPr/>
          <p:nvPr/>
        </p:nvSpPr>
        <p:spPr>
          <a:xfrm>
            <a:off x="533520" y="5427406"/>
            <a:ext cx="8152920" cy="7365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Cube → State Representation → Apply Algorithm → Solution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355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08EA1-99D8-50ED-34B3-B74C586E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6F83D81-481C-2F42-3008-85C1C67D55F4}"/>
              </a:ext>
            </a:extLst>
          </p:cNvPr>
          <p:cNvSpPr txBox="1"/>
          <p:nvPr/>
        </p:nvSpPr>
        <p:spPr>
          <a:xfrm>
            <a:off x="602346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4436586-2498-CABB-3213-BE5CCFA3383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BBC4B2D-669B-F704-BEFF-BBC62AB72F1F}"/>
              </a:ext>
            </a:extLst>
          </p:cNvPr>
          <p:cNvSpPr txBox="1"/>
          <p:nvPr/>
        </p:nvSpPr>
        <p:spPr>
          <a:xfrm>
            <a:off x="164008" y="1238865"/>
            <a:ext cx="8838720" cy="528975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Java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Used: IntelliJ IDEA / Eclipse / VS Code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 Java Development Kit (JDK)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Cube Configuration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3×3×3 Rubik’s Cube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Cube modeled as a state-space 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Process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test cases executed for each scramble depth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analyzed across increasing complexity level</a:t>
            </a:r>
            <a:endParaRPr lang="en-US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58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06DC-2959-93F4-D2E8-6C367B45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C1053DD-65BA-0AB8-E3F9-EB3B59E9F29D}"/>
              </a:ext>
            </a:extLst>
          </p:cNvPr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ED938DC-B1D2-65F5-F878-6E947449AE7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B053176-AC72-9D6E-0602-D286ADAF73BD}"/>
              </a:ext>
            </a:extLst>
          </p:cNvPr>
          <p:cNvSpPr txBox="1"/>
          <p:nvPr/>
        </p:nvSpPr>
        <p:spPr>
          <a:xfrm>
            <a:off x="164008" y="1219200"/>
            <a:ext cx="8838720" cy="557088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Performance Evaluation -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evaluated using execution time, memory usage, and solution efficiency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tested across increasing scramble depth (3–10)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Key Observations – 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at lower depths.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Fails beyond depth 7 due to exponential memory growth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IDDFS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memory usage.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due to repeated state exploration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79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F3032-9197-B946-EAAE-67A837D0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0321A00-3E5A-ABF7-F986-531C27CE1211}"/>
              </a:ext>
            </a:extLst>
          </p:cNvPr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0DB8C61-CDA8-326B-108B-093DC34AC4F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F6F3D0F-0E29-AC82-EF53-C36006276630}"/>
              </a:ext>
            </a:extLst>
          </p:cNvPr>
          <p:cNvSpPr txBox="1"/>
          <p:nvPr/>
        </p:nvSpPr>
        <p:spPr>
          <a:xfrm>
            <a:off x="164008" y="1425677"/>
            <a:ext cx="8838720" cy="510294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IDA*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heuristic pruning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fewer states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efficiently even at higher depths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Execution Time vs Scramble Depth: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D6D86C-8E93-63AF-3242-86DEF29D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23" y="3156155"/>
            <a:ext cx="6272980" cy="300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88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4D44-D4D1-3B16-DCD1-B6FF49B1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75F25BD-DC81-670C-721B-0DFE20C35D84}"/>
              </a:ext>
            </a:extLst>
          </p:cNvPr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0EBB1B1-19B1-FDE6-2EEE-024E45083D4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B981140-3D63-8CDA-C7C1-4F85FEDA841B}"/>
              </a:ext>
            </a:extLst>
          </p:cNvPr>
          <p:cNvSpPr txBox="1"/>
          <p:nvPr/>
        </p:nvSpPr>
        <p:spPr>
          <a:xfrm>
            <a:off x="305280" y="1366684"/>
            <a:ext cx="8838720" cy="517217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The analysis highlights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dirty="0"/>
              <a:t> strengths and limitations of each approach in solving complex Rubik’s Cube configurations. 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The comparative results demonstrate how heuristic-based optimization significantly improves search efficiency and overall performance.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5A4316-D0E4-378E-84BD-E330DCBD9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289256"/>
              </p:ext>
            </p:extLst>
          </p:nvPr>
        </p:nvGraphicFramePr>
        <p:xfrm>
          <a:off x="658761" y="2969342"/>
          <a:ext cx="8027678" cy="301692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17236">
                  <a:extLst>
                    <a:ext uri="{9D8B030D-6E8A-4147-A177-3AD203B41FA5}">
                      <a16:colId xmlns:a16="http://schemas.microsoft.com/office/drawing/2014/main" val="1887661047"/>
                    </a:ext>
                  </a:extLst>
                </a:gridCol>
                <a:gridCol w="2236814">
                  <a:extLst>
                    <a:ext uri="{9D8B030D-6E8A-4147-A177-3AD203B41FA5}">
                      <a16:colId xmlns:a16="http://schemas.microsoft.com/office/drawing/2014/main" val="1169463828"/>
                    </a:ext>
                  </a:extLst>
                </a:gridCol>
                <a:gridCol w="2236814">
                  <a:extLst>
                    <a:ext uri="{9D8B030D-6E8A-4147-A177-3AD203B41FA5}">
                      <a16:colId xmlns:a16="http://schemas.microsoft.com/office/drawing/2014/main" val="158226329"/>
                    </a:ext>
                  </a:extLst>
                </a:gridCol>
                <a:gridCol w="2236814">
                  <a:extLst>
                    <a:ext uri="{9D8B030D-6E8A-4147-A177-3AD203B41FA5}">
                      <a16:colId xmlns:a16="http://schemas.microsoft.com/office/drawing/2014/main" val="2852185411"/>
                    </a:ext>
                  </a:extLst>
                </a:gridCol>
              </a:tblGrid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623775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246507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694013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IDA*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78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800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78D46-10D1-907E-976F-CBD25840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F16E4AC1-1379-8910-8B65-D0D815D84FCB}"/>
              </a:ext>
            </a:extLst>
          </p:cNvPr>
          <p:cNvSpPr txBox="1"/>
          <p:nvPr/>
        </p:nvSpPr>
        <p:spPr>
          <a:xfrm>
            <a:off x="533520" y="679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4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B9191E5-04A3-E2C0-DF92-426436F6DDF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9616267-FB25-D9CA-3FB0-63957B5D6ED6}"/>
              </a:ext>
            </a:extLst>
          </p:cNvPr>
          <p:cNvSpPr txBox="1"/>
          <p:nvPr/>
        </p:nvSpPr>
        <p:spPr>
          <a:xfrm>
            <a:off x="164008" y="1150374"/>
            <a:ext cx="8838720" cy="536841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implemented and compared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BFS, IDDFS, and IDA*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for solving the Rubik’s Cube.</a:t>
            </a: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guarantees optimal solutions at lower depths but suffers from excessive memory consumption as complexity increases.</a:t>
            </a: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IDDFS improves memory efficiency; however, repeated depth-limited searches increase execution time.</a:t>
            </a: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IDA* achieves the best overall performance by using heuristic-guided pruning to reduce unnecessary state exploration.</a:t>
            </a: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analysis shows that IDA* is the most efficient and scalable approach for solving higher-depth Rubik’s Cube configurations.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016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433604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34893</TotalTime>
  <Words>895</Words>
  <Application>Microsoft Office PowerPoint</Application>
  <PresentationFormat>On-screen Show (4:3)</PresentationFormat>
  <Paragraphs>234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Ravneet kaur</cp:lastModifiedBy>
  <cp:revision>2307</cp:revision>
  <dcterms:created xsi:type="dcterms:W3CDTF">2010-04-09T07:36:15Z</dcterms:created>
  <dcterms:modified xsi:type="dcterms:W3CDTF">2026-05-14T11:00:54Z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